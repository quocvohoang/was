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24"/>
    <p:sldId id="274" r:id="rId25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pic>
        <p:nvPicPr>
          <p:cNvPr id="4" name="Image 0" descr="/Users/quocvo/WASM/latex/images/hcmut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53035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ĐẠI HỌC BÁCH KHOA - ĐHQG TP.HCM</a:t>
            </a:r>
            <a:endParaRPr lang="en-US" sz="820" dirty="0"/>
          </a:p>
        </p:txBody>
      </p:sp>
      <p:sp>
        <p:nvSpPr>
          <p:cNvPr id="6" name="Text 3"/>
          <p:cNvSpPr/>
          <p:nvPr/>
        </p:nvSpPr>
        <p:spPr>
          <a:xfrm>
            <a:off x="1417320" y="80467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Khoa Khoa học và Kỹ thuật Máy tính | Thực tập 2</a:t>
            </a:r>
            <a:endParaRPr lang="en-US" sz="820" dirty="0"/>
          </a:p>
        </p:txBody>
      </p:sp>
      <p:sp>
        <p:nvSpPr>
          <p:cNvPr id="7" name="Text 4"/>
          <p:cNvSpPr/>
          <p:nvPr/>
        </p:nvSpPr>
        <p:spPr>
          <a:xfrm>
            <a:off x="658368" y="1828800"/>
            <a:ext cx="80467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TÍCH HIỆU NĂNG CỦA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 VÀ WEBASSEMBLY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76656" y="3054096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xử lý video thời gian thực trên trình duyệt web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732520" y="1783080"/>
            <a:ext cx="242316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97112" y="1920240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WORKLOAD</a:t>
            </a:r>
            <a:endParaRPr lang="en-US" sz="680" dirty="0"/>
          </a:p>
        </p:txBody>
      </p:sp>
      <p:sp>
        <p:nvSpPr>
          <p:cNvPr id="11" name="Text 8"/>
          <p:cNvSpPr/>
          <p:nvPr/>
        </p:nvSpPr>
        <p:spPr>
          <a:xfrm>
            <a:off x="8897112" y="211226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UHD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8897112" y="25603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3840 x 2160 pixels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8732520" y="3063240"/>
            <a:ext cx="242316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897112" y="3200400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CORE LATENCY</a:t>
            </a:r>
            <a:endParaRPr lang="en-US" sz="680" dirty="0"/>
          </a:p>
        </p:txBody>
      </p:sp>
      <p:sp>
        <p:nvSpPr>
          <p:cNvPr id="15" name="Text 12"/>
          <p:cNvSpPr/>
          <p:nvPr/>
        </p:nvSpPr>
        <p:spPr>
          <a:xfrm>
            <a:off x="8897112" y="339242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E9D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11.13 ms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8897112" y="38404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SIMD + MT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76656" y="510235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Sinh viên: Võ Hoàng Quốc - 2470310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GVHD: PGS.TS Thoại Nam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TP. HCM, 05/2026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1110996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7620">
            <a:solidFill>
              <a:srgbClr val="EAECEE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TẬP 2 | WEBASSEMBLY BENCHMARK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326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Bối cảnh đề tài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6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7620">
            <a:solidFill>
              <a:srgbClr val="EAEC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08760"/>
            <a:ext cx="621792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75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duyệt đã chuyển từ hiển thị tài liệu sang nền tảng thực thi ứng dụng phức tạp.</a:t>
            </a:r>
            <a:endParaRPr lang="en-US" sz="1750" dirty="0"/>
          </a:p>
          <a:p>
            <a:r>
              <a:rPr lang="en-US" sz="175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Xu hướng client-side computing giúp giảm độ trễ, tiết kiệm băng thông và bảo vệ dữ liệu camera/video.</a:t>
            </a:r>
            <a:endParaRPr lang="en-US" sz="1750" dirty="0"/>
          </a:p>
          <a:p>
            <a:r>
              <a:rPr lang="en-US" sz="175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4K UHD tạo áp lực rất lớn: 8.3 triệu pixel và khoảng 33 MB dữ liệu thô mỗi khung hình.</a:t>
            </a:r>
            <a:endParaRPr lang="en-US" sz="1750" dirty="0"/>
          </a:p>
          <a:p>
            <a:r>
              <a:rPr lang="en-US" sz="175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mục tiêu 60 FPS, ngân sách xử lý chỉ còn 16.67 ms cho mỗi frame.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406640" y="1508760"/>
            <a:ext cx="182880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71232" y="1645920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 SIZE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7571232" y="183794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MB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571232" y="228600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RGBA 4K/frame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464040" y="1508760"/>
            <a:ext cx="182880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28632" y="1645920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FPS BUDGET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9628632" y="183794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E9D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16.67 ms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628632" y="228600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frame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406640" y="2971800"/>
            <a:ext cx="182880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71232" y="3108960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PIXELS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7571232" y="330098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8.3M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7571232" y="374904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3840 x 2160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464040" y="2971800"/>
            <a:ext cx="182880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28632" y="3108960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9628632" y="330098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0A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628632" y="374904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video/media workload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TẬP 2 | WEBASSEMBLY BENCHMARK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326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 nghiên cứu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6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7620">
            <a:solidFill>
              <a:srgbClr val="EAEC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463040"/>
            <a:ext cx="329184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463040"/>
            <a:ext cx="82296" cy="11430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627632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 JIT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993392"/>
            <a:ext cx="29443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Kiểu động, warm-up và deoptimization làm thời gian xử lý khó dự đoán.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1463040"/>
            <a:ext cx="329184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4840" y="1463040"/>
            <a:ext cx="82296" cy="11430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627632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Garbage Collection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63440" y="1993392"/>
            <a:ext cx="29443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Cấp phát liên tục cho frame 4K tạo latency spikes và jitter.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1463040"/>
            <a:ext cx="329184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38160" y="1463040"/>
            <a:ext cx="82296" cy="114300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66760" y="1627632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loop đơn luồng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66760" y="1993392"/>
            <a:ext cx="29443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Khó khai thác đa nhân CPU và khó giữ main thread ổn định.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514600" y="3063240"/>
            <a:ext cx="329184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14600" y="3063240"/>
            <a:ext cx="82296" cy="1143000"/>
          </a:xfrm>
          <a:prstGeom prst="rect">
            <a:avLst/>
          </a:prstGeom>
          <a:solidFill>
            <a:srgbClr val="00A6D6"/>
          </a:solidFill>
          <a:ln w="12700">
            <a:solidFill>
              <a:srgbClr val="00A6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0" y="3227832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SIMD khó kiểm soát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0" y="3593592"/>
            <a:ext cx="29443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 phụ thuộc auto-vectorization của engine, không ổn định với workload pixel.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55080" y="3063240"/>
            <a:ext cx="329184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55080" y="3063240"/>
            <a:ext cx="82296" cy="1143000"/>
          </a:xfrm>
          <a:prstGeom prst="rect">
            <a:avLst/>
          </a:prstGeom>
          <a:solidFill>
            <a:srgbClr val="1E9D68"/>
          </a:solidFill>
          <a:ln w="12700">
            <a:solidFill>
              <a:srgbClr val="1E9D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3227832"/>
            <a:ext cx="2944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 và bộ nhớ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83680" y="3593592"/>
            <a:ext cx="29443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Đưa tính toán sang Wasm vẫn đòi hỏi copy-in/copy-out nếu pipeline chưa zero-copy.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51560" y="50749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trung tâm: Wasm có thể đưa lõi xử lý video 4K về dưới ngân sách thời gian thực hay không?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TẬP 2 | WEBASSEMBLY BENCHMARK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326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quan nghiên cứu liên quan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6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7620">
            <a:solidFill>
              <a:srgbClr val="EAEC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417320"/>
            <a:ext cx="52120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417320"/>
            <a:ext cx="82296" cy="86868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581912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Wasm vs JS/native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1947672"/>
            <a:ext cx="4864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Haas et al.; Jangda et al.; Yan et al. - Wasm có lợi thế, nhưng hiệu năng phụ thuộc runtime và overhead.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85800" y="2560320"/>
            <a:ext cx="52120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2560320"/>
            <a:ext cx="82296" cy="868680"/>
          </a:xfrm>
          <a:prstGeom prst="rect">
            <a:avLst/>
          </a:prstGeom>
          <a:solidFill>
            <a:srgbClr val="1E9D68"/>
          </a:solidFill>
          <a:ln w="12700">
            <a:solidFill>
              <a:srgbClr val="1E9D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724912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vision trên Web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3090672"/>
            <a:ext cx="4864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Taheri et al. với OpenCV.js chứng minh tính khả thi của thị giác máy tính trên trình duyệt.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85800" y="3703320"/>
            <a:ext cx="52120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703320"/>
            <a:ext cx="82296" cy="868680"/>
          </a:xfrm>
          <a:prstGeom prst="rect">
            <a:avLst/>
          </a:prstGeom>
          <a:solidFill>
            <a:srgbClr val="00A6D6"/>
          </a:solidFill>
          <a:ln w="12700">
            <a:solidFill>
              <a:srgbClr val="00A6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867912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SIMD và convolution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4233672"/>
            <a:ext cx="48646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Oishi et al. cho thấy Wasm SIMD tăng tốc các bộ lọc ảnh, đặc biệt với dữ liệu pixel lớn.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0" y="1417320"/>
            <a:ext cx="49834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1417320"/>
            <a:ext cx="82296" cy="8686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1581912"/>
            <a:ext cx="4636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high-performance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629400" y="1947672"/>
            <a:ext cx="46360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Parab tổng hợp vai trò mở rộng của Wasm trong ứng dụng web hiện đại.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92240" y="2743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 rút ra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92240" y="3154680"/>
            <a:ext cx="457200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5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có nhiều bằng chứng về lợi thế Wasm trong tác vụ CPU-bound.</a:t>
            </a:r>
            <a:endParaRPr lang="en-US" sz="1450" dirty="0"/>
          </a:p>
          <a:p>
            <a:r>
              <a:rPr lang="en-US" sz="145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Ít công trình đánh giá video 4K thời gian thực trên pipeline cụ thể.</a:t>
            </a:r>
            <a:endParaRPr lang="en-US" sz="1450" dirty="0"/>
          </a:p>
          <a:p>
            <a:r>
              <a:rPr lang="en-US" sz="145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chỉ số P99/Jitter thường bị xem nhẹ so với giá trị trung bình.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TẬP 2 | WEBASSEMBLY BENCHMARK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326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trống nghiên cứu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6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7620">
            <a:solidFill>
              <a:srgbClr val="EAEC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417320"/>
            <a:ext cx="3246120" cy="333756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417320"/>
            <a:ext cx="82296" cy="333756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581912"/>
            <a:ext cx="2898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Workload cực lớn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1947672"/>
            <a:ext cx="2898648" cy="2679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đánh giá trên pipeline video 4K UHD, nơi CPU và băng thông bộ nhớ đều bị đẩy lên cao.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1417320"/>
            <a:ext cx="3246120" cy="333756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4840" y="1417320"/>
            <a:ext cx="82296" cy="3337560"/>
          </a:xfrm>
          <a:prstGeom prst="rect">
            <a:avLst/>
          </a:prstGeom>
          <a:solidFill>
            <a:srgbClr val="1E9D68"/>
          </a:solidFill>
          <a:ln w="12700">
            <a:solidFill>
              <a:srgbClr val="1E9D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581912"/>
            <a:ext cx="2898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Tối ưu tích lũy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63440" y="1947672"/>
            <a:ext cx="2898648" cy="2679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Nhieu nghien cuu chi so sanh rieng le JS/Wasm hoac SIMD/Scalar; it phan tich Scalar -&gt; SIMD -&gt; MT -&gt; Hybrid.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92440" y="1417320"/>
            <a:ext cx="3246120" cy="333756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92440" y="1417320"/>
            <a:ext cx="82296" cy="333756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1581912"/>
            <a:ext cx="2898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Độ ổn định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21040" y="1947672"/>
            <a:ext cx="2898648" cy="2679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latency chưa đủ cho video thời gian thực; cần nhìn P99, độ lệch chuẩn và jitter.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14400" y="5257800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2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tài lấp đầy khoảng trống bằng benchmark có kiểm soát trên motion detection 4K.</a:t>
            </a:r>
            <a:endParaRPr lang="en-US" sz="16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TẬP 2 | WEBASSEMBLY BENCHMARK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326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 nghiên cứu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6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7620">
            <a:solidFill>
              <a:srgbClr val="EAEC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828800"/>
            <a:ext cx="2240280" cy="914400"/>
          </a:xfrm>
          <a:prstGeom prst="roundRect">
            <a:avLst>
              <a:gd name="adj" fmla="val 5000"/>
            </a:avLst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1975104"/>
            <a:ext cx="2020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6968" y="228600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đo lường chuẩn hóa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3337560" y="1828800"/>
            <a:ext cx="2240280" cy="914400"/>
          </a:xfrm>
          <a:prstGeom prst="roundRect">
            <a:avLst>
              <a:gd name="adj" fmla="val 5000"/>
            </a:avLst>
          </a:prstGeom>
          <a:solidFill>
            <a:srgbClr val="1E9D68"/>
          </a:solidFill>
          <a:ln w="12700">
            <a:solidFill>
              <a:srgbClr val="1E9D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47288" y="1975104"/>
            <a:ext cx="2020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sánh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 vs Wasm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5897880" y="1828800"/>
            <a:ext cx="2240280" cy="914400"/>
          </a:xfrm>
          <a:prstGeom prst="roundRect">
            <a:avLst>
              <a:gd name="adj" fmla="val 5000"/>
            </a:avLst>
          </a:prstGeom>
          <a:solidFill>
            <a:srgbClr val="00A6D6"/>
          </a:solidFill>
          <a:ln w="12700">
            <a:solidFill>
              <a:srgbClr val="00A6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07608" y="1975104"/>
            <a:ext cx="2020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Đánh giá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07608" y="228600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mức tối ưu Wasm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8458200" y="1828800"/>
            <a:ext cx="2240280" cy="914400"/>
          </a:xfrm>
          <a:prstGeom prst="roundRect">
            <a:avLst>
              <a:gd name="adj" fmla="val 5000"/>
            </a:avLst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67928" y="1975104"/>
            <a:ext cx="2020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Khuyến nghị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67928" y="228600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 kỹ thuật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1005840" y="3657600"/>
            <a:ext cx="100584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62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 lập chi phí thực thi lõi khỏi decode/render khi đo latency thuật toán.</a:t>
            </a:r>
            <a:endParaRPr lang="en-US" sz="1620" dirty="0"/>
          </a:p>
          <a:p>
            <a:r>
              <a:rPr lang="en-US" sz="162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nhận cả tốc độ và tính ổn định: latency, FPS, P99, sigma, speedup.</a:t>
            </a:r>
            <a:endParaRPr lang="en-US" sz="1620" dirty="0"/>
          </a:p>
          <a:p>
            <a:r>
              <a:rPr lang="en-US" sz="162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Xác định bottleneck khi chuyển từ compute-bound sang memory/bridge-bound.</a:t>
            </a:r>
            <a:endParaRPr lang="en-US" sz="16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TẬP 2 | WEBASSEMBLY BENCHMARK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326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nghiên cứu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6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7620">
            <a:solidFill>
              <a:srgbClr val="EAEC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353312"/>
            <a:ext cx="51663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353312"/>
            <a:ext cx="82296" cy="96012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517904"/>
            <a:ext cx="4818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RQ1 - Wasm Scalar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1883664"/>
            <a:ext cx="48188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Wasm Scalar tăng tốc như thế nào so với JavaScript trong xử lý video 4K?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353312"/>
            <a:ext cx="51663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1353312"/>
            <a:ext cx="82296" cy="960120"/>
          </a:xfrm>
          <a:prstGeom prst="rect">
            <a:avLst/>
          </a:prstGeom>
          <a:solidFill>
            <a:srgbClr val="1E9D68"/>
          </a:solidFill>
          <a:ln w="12700">
            <a:solidFill>
              <a:srgbClr val="1E9D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517904"/>
            <a:ext cx="4818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RQ2 - SIMD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92240" y="1883664"/>
            <a:ext cx="48188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SIMD 128-bit giảm latency các phép xử lý pixel ở mức nào?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2788920"/>
            <a:ext cx="51663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2788920"/>
            <a:ext cx="82296" cy="96012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2953512"/>
            <a:ext cx="4818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RQ3 - Multi-threading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3319272"/>
            <a:ext cx="48188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Đa luồng có đạt tăng trưởng tuyến tính hay bị giới hạn bởi overhead và băng thông bộ nhớ?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788920"/>
            <a:ext cx="51663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0" y="2788920"/>
            <a:ext cx="82296" cy="960120"/>
          </a:xfrm>
          <a:prstGeom prst="rect">
            <a:avLst/>
          </a:prstGeom>
          <a:solidFill>
            <a:srgbClr val="00A6D6"/>
          </a:solidFill>
          <a:ln w="12700">
            <a:solidFill>
              <a:srgbClr val="00A6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2953512"/>
            <a:ext cx="4818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RQ4 - Hybrid stability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92240" y="3319272"/>
            <a:ext cx="48188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hợp SIMD + Multi-thread có giữ được P99/Jitter ổn định trong pipeline dài hạn?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TẬP 2 | WEBASSEMBLY BENCHMARK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326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Cơ sở lý thuyết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6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7620">
            <a:solidFill>
              <a:srgbClr val="EAEC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71600"/>
            <a:ext cx="33832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371600"/>
            <a:ext cx="82296" cy="105156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536192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WebAssembly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901952"/>
            <a:ext cx="3035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Mã nhị phân kiểu tĩnh, AOT/streaming compilation, hiệu năng gần native.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1371600"/>
            <a:ext cx="33832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4840" y="1371600"/>
            <a:ext cx="82296" cy="1051560"/>
          </a:xfrm>
          <a:prstGeom prst="rect">
            <a:avLst/>
          </a:prstGeom>
          <a:solidFill>
            <a:srgbClr val="1E9D68"/>
          </a:solidFill>
          <a:ln w="12700">
            <a:solidFill>
              <a:srgbClr val="1E9D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536192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Memory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63440" y="1901952"/>
            <a:ext cx="3035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Mảng byte liên tục, quản lý thủ công, tái sử dụng buffer để giảm GC.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1371600"/>
            <a:ext cx="33832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38160" y="1371600"/>
            <a:ext cx="82296" cy="1051560"/>
          </a:xfrm>
          <a:prstGeom prst="rect">
            <a:avLst/>
          </a:prstGeom>
          <a:solidFill>
            <a:srgbClr val="00A6D6"/>
          </a:solidFill>
          <a:ln w="12700">
            <a:solidFill>
              <a:srgbClr val="00A6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66760" y="1536192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SIMD 128-bit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66760" y="1901952"/>
            <a:ext cx="3035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Xử lý nhiều pixel trên một lệnh, phù hợp grayscale và frame differencing.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606040" y="2880360"/>
            <a:ext cx="33832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06040" y="2880360"/>
            <a:ext cx="82296" cy="105156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34640" y="3044952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Workers/pthreads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834640" y="3410712"/>
            <a:ext cx="3035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Khai thác nhiều lõi CPU bằng SharedArrayBuffer và mô hình fork-join.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55080" y="2880360"/>
            <a:ext cx="33832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55080" y="2880360"/>
            <a:ext cx="82296" cy="10515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3044952"/>
            <a:ext cx="3035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Detection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83680" y="3410712"/>
            <a:ext cx="3035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 differencing sau grayscale và blur, workload lặp lại trên từng pixel.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14400" y="498348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đánh giá: Mean/Median chỉ nói tốc độ điển hình; P99 và sigma mới phản ánh jitter.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TẬP 2 | WEBASSEMBLY BENCHMARK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326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phát hiện chuyển động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6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7620">
            <a:solidFill>
              <a:srgbClr val="EAEC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42316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569464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1248" y="2880360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RGBA 4K frame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2633472" y="2679192"/>
            <a:ext cx="411480" cy="411480"/>
          </a:xfrm>
          <a:prstGeom prst="chevron">
            <a:avLst/>
          </a:prstGeom>
          <a:solidFill>
            <a:srgbClr val="AAB7B8"/>
          </a:solidFill>
          <a:ln w="12700">
            <a:solidFill>
              <a:srgbClr val="AAB7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242316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2569464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Grayscale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18688" y="2880360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= (77R+150G+29B)&gt;&gt;8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5010912" y="2679192"/>
            <a:ext cx="411480" cy="411480"/>
          </a:xfrm>
          <a:prstGeom prst="chevron">
            <a:avLst/>
          </a:prstGeom>
          <a:solidFill>
            <a:srgbClr val="AAB7B8"/>
          </a:solidFill>
          <a:ln w="12700">
            <a:solidFill>
              <a:srgbClr val="AAB7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0" y="242316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1E9D68"/>
          </a:solidFill>
          <a:ln w="12700">
            <a:solidFill>
              <a:srgbClr val="1E9D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96128" y="2569464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596128" y="2880360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Box/separable blur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7388352" y="2679192"/>
            <a:ext cx="411480" cy="411480"/>
          </a:xfrm>
          <a:prstGeom prst="chevron">
            <a:avLst/>
          </a:prstGeom>
          <a:solidFill>
            <a:srgbClr val="AAB7B8"/>
          </a:solidFill>
          <a:ln w="12700">
            <a:solidFill>
              <a:srgbClr val="AAB7B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2423160"/>
            <a:ext cx="1828800" cy="914400"/>
          </a:xfrm>
          <a:prstGeom prst="roundRect">
            <a:avLst>
              <a:gd name="adj" fmla="val 5000"/>
            </a:avLst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73568" y="2569464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 diff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973568" y="2880360"/>
            <a:ext cx="1609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|Bt - Bt-1| &gt; T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9765792" y="2679192"/>
            <a:ext cx="411480" cy="411480"/>
          </a:xfrm>
          <a:prstGeom prst="chevron">
            <a:avLst/>
          </a:prstGeom>
          <a:solidFill>
            <a:srgbClr val="AAB7B8"/>
          </a:solidFill>
          <a:ln w="12700">
            <a:solidFill>
              <a:srgbClr val="AAB7B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58400" y="2423160"/>
            <a:ext cx="1508760" cy="914400"/>
          </a:xfrm>
          <a:prstGeom prst="roundRect">
            <a:avLst>
              <a:gd name="adj" fmla="val 5000"/>
            </a:avLst>
          </a:prstGeom>
          <a:solidFill>
            <a:srgbClr val="00A6D6"/>
          </a:solidFill>
          <a:ln w="12700">
            <a:solidFill>
              <a:srgbClr val="00A6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168128" y="2569464"/>
            <a:ext cx="1289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168128" y="2880360"/>
            <a:ext cx="1289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mask / Canvas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914400" y="4160520"/>
            <a:ext cx="100584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55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Blur là nút thắt chính của pipeline; tối ưu separable filter + sliding window giảm độ phức tạp xử lý.</a:t>
            </a:r>
            <a:endParaRPr lang="en-US" sz="1550" dirty="0"/>
          </a:p>
          <a:p>
            <a:r>
              <a:rPr lang="en-US" sz="155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Thuật toán có tính song song cao, phù hợp để đánh giá SIMD và đa luồng.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TẬP 2 | WEBASSEMBLY BENCHMARK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326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hệ thống benchmark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6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7620">
            <a:solidFill>
              <a:srgbClr val="EAEC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325880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325880"/>
            <a:ext cx="82296" cy="10515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490472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1856232"/>
            <a:ext cx="19842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HTML/CSS/JS chạy hoàn toàn tại client.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37560" y="1325880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37560" y="1325880"/>
            <a:ext cx="82296" cy="105156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1490472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 Orchestrator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1856232"/>
            <a:ext cx="19842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frame, điều phối engine, ghi metrics.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89320" y="1325880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89320" y="1325880"/>
            <a:ext cx="82296" cy="1051560"/>
          </a:xfrm>
          <a:prstGeom prst="rect">
            <a:avLst/>
          </a:prstGeom>
          <a:solidFill>
            <a:srgbClr val="1E9D68"/>
          </a:solidFill>
          <a:ln w="12700">
            <a:solidFill>
              <a:srgbClr val="1E9D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1490472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Wasm core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17920" y="1856232"/>
            <a:ext cx="19842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xử lý grayscale, blur, diff/output.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641080" y="1325880"/>
            <a:ext cx="233172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41080" y="1325880"/>
            <a:ext cx="82296" cy="105156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1490472"/>
            <a:ext cx="1984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Worker/Canvas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869680" y="1856232"/>
            <a:ext cx="198424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pthread worker, hiển thị kết quả lên Canvas.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4400" y="3154680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3300984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Video/Canvas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24128" y="3611880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ImageData RGBA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3383280" y="3154680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93008" y="3300984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93008" y="3611880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copy-in/copy-out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5852160" y="3154680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1E9D68"/>
          </a:solidFill>
          <a:ln w="12700">
            <a:solidFill>
              <a:srgbClr val="1E9D6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61888" y="3300984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Memory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961888" y="3611880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 reuse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8321040" y="3154680"/>
            <a:ext cx="1920240" cy="914400"/>
          </a:xfrm>
          <a:prstGeom prst="roundRect">
            <a:avLst>
              <a:gd name="adj" fmla="val 5000"/>
            </a:avLst>
          </a:prstGeom>
          <a:solidFill>
            <a:srgbClr val="00A6D6"/>
          </a:solidFill>
          <a:ln w="12700">
            <a:solidFill>
              <a:srgbClr val="00A6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30768" y="3300984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API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430768" y="3611880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latency/FPS/P99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2880360" y="3410712"/>
            <a:ext cx="411480" cy="411480"/>
          </a:xfrm>
          <a:prstGeom prst="chevron">
            <a:avLst/>
          </a:prstGeom>
          <a:solidFill>
            <a:srgbClr val="AAB7B8"/>
          </a:solidFill>
          <a:ln w="12700">
            <a:solidFill>
              <a:srgbClr val="AAB7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349240" y="3410712"/>
            <a:ext cx="411480" cy="411480"/>
          </a:xfrm>
          <a:prstGeom prst="chevron">
            <a:avLst/>
          </a:prstGeom>
          <a:solidFill>
            <a:srgbClr val="AAB7B8"/>
          </a:solidFill>
          <a:ln w="12700">
            <a:solidFill>
              <a:srgbClr val="AAB7B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818120" y="3410712"/>
            <a:ext cx="411480" cy="411480"/>
          </a:xfrm>
          <a:prstGeom prst="chevron">
            <a:avLst/>
          </a:prstGeom>
          <a:solidFill>
            <a:srgbClr val="AAB7B8"/>
          </a:solidFill>
          <a:ln w="12700">
            <a:solidFill>
              <a:srgbClr val="AAB7B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5074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tắc: giữ cùng video, cùng thuật toán logic, chỉ thay đổi kỹ thuật tối ưu ở tầng Wasm.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TẬP 2 | WEBASSEMBLY BENCHMARK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326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kịch bản thực nghiệm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6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7620">
            <a:solidFill>
              <a:srgbClr val="EAEC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28800"/>
            <a:ext cx="1874520" cy="21031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828800"/>
            <a:ext cx="82296" cy="21031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993392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 baseline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2359152"/>
            <a:ext cx="152704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TypedArray + JIT + GC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990088" y="1828800"/>
            <a:ext cx="1874520" cy="21031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0088" y="1828800"/>
            <a:ext cx="82296" cy="210312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18688" y="1993392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Wasm Scalar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18688" y="2359152"/>
            <a:ext cx="152704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scalar + linear memory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248656" y="1828800"/>
            <a:ext cx="1874520" cy="21031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48656" y="1828800"/>
            <a:ext cx="82296" cy="2103120"/>
          </a:xfrm>
          <a:prstGeom prst="rect">
            <a:avLst/>
          </a:prstGeom>
          <a:solidFill>
            <a:srgbClr val="1E9D68"/>
          </a:solidFill>
          <a:ln w="12700">
            <a:solidFill>
              <a:srgbClr val="1E9D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77256" y="1993392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Wasm SIMD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77256" y="2359152"/>
            <a:ext cx="152704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SIMD 128-bit + integer math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507224" y="1828800"/>
            <a:ext cx="1874520" cy="21031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07224" y="1828800"/>
            <a:ext cx="82296" cy="210312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1993392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Wasm Multi-threaded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35824" y="2359152"/>
            <a:ext cx="152704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pthreads + SharedArrayBuffer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765792" y="1828800"/>
            <a:ext cx="1874520" cy="21031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65792" y="1828800"/>
            <a:ext cx="82296" cy="2103120"/>
          </a:xfrm>
          <a:prstGeom prst="rect">
            <a:avLst/>
          </a:prstGeom>
          <a:solidFill>
            <a:srgbClr val="00A6D6"/>
          </a:solidFill>
          <a:ln w="12700">
            <a:solidFill>
              <a:srgbClr val="00A6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994392" y="1993392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994392" y="2359152"/>
            <a:ext cx="152704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SIMD + Multi-threaded + optimized blur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14400" y="489204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Chuỗi kịch bản cho phép đo đóng góp riêng lẻ và tích lũy của từng tầng tối ưu.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TẬP 2 | WEBASSEMBLY BENCHMARK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326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Môi trường và chỉ số đánh giá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6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7620">
            <a:solidFill>
              <a:srgbClr val="EAEC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371600"/>
            <a:ext cx="333756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371600"/>
            <a:ext cx="82296" cy="118872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536192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1901952"/>
            <a:ext cx="29900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4K UHD, 3840 x 2160, khoảng 33 MB/frame.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1371600"/>
            <a:ext cx="333756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4840" y="1371600"/>
            <a:ext cx="82296" cy="1188720"/>
          </a:xfrm>
          <a:prstGeom prst="rect">
            <a:avLst/>
          </a:prstGeom>
          <a:solidFill>
            <a:srgbClr val="1E9D68"/>
          </a:solidFill>
          <a:ln w="12700">
            <a:solidFill>
              <a:srgbClr val="1E9D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536192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63440" y="1901952"/>
            <a:ext cx="29900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Chrome/V8, WebAssembly SIMD, SharedArrayBuffer.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92440" y="1371600"/>
            <a:ext cx="333756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92440" y="1371600"/>
            <a:ext cx="82296" cy="118872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1536192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cứng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21040" y="1901952"/>
            <a:ext cx="29900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M4, 16GB Unified Memory; GPU không tham gia tính toán lõi.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05840" y="3291840"/>
            <a:ext cx="182880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70432" y="3429000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1170432" y="36210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ms/frame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170432" y="406908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gian xử lý lõi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154680" y="3291840"/>
            <a:ext cx="182880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19272" y="3429000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3319272" y="36210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E9D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frames/s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3319272" y="406908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lượng đầu cuối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303520" y="3291840"/>
            <a:ext cx="182880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68112" y="3429000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P99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5468112" y="36210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5468112" y="406908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trễ xấu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452360" y="3291840"/>
            <a:ext cx="182880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16952" y="3429000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SIGMA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7616952" y="36210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7616952" y="406908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biến động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9601200" y="3291840"/>
            <a:ext cx="182880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765792" y="3429000"/>
            <a:ext cx="1508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SPEEDUP</a:t>
            </a:r>
            <a:endParaRPr lang="en-US" sz="680" dirty="0"/>
          </a:p>
        </p:txBody>
      </p:sp>
      <p:sp>
        <p:nvSpPr>
          <p:cNvPr id="37" name="Text 35"/>
          <p:cNvSpPr/>
          <p:nvPr/>
        </p:nvSpPr>
        <p:spPr>
          <a:xfrm>
            <a:off x="9765792" y="36210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0A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lần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9765792" y="406908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baseline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TẬP 2 | WEBASSEMBLY BENCHMARK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326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quả: JS vs Wasm Scalar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6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7620">
            <a:solidFill>
              <a:srgbClr val="EAEC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417320"/>
            <a:ext cx="214884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1832" y="1554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941832" y="17465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273.74 ms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41832" y="2194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latency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246120" y="1417320"/>
            <a:ext cx="214884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10712" y="1554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WASM SCALAR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3410712" y="17465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61.22 ms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410712" y="2194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AOT + linear memory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715000" y="1417320"/>
            <a:ext cx="214884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79592" y="1554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SPEEDUP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5879592" y="17465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E9D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4.47x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5879592" y="2194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improvement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183880" y="1417320"/>
            <a:ext cx="214884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8472" y="1554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FPS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8348472" y="17465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3.4 -&gt; 11.4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8348472" y="2194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14400" y="4846320"/>
            <a:ext cx="4800600" cy="0"/>
          </a:xfrm>
          <a:prstGeom prst="line">
            <a:avLst/>
          </a:prstGeom>
          <a:noFill/>
          <a:ln w="12700">
            <a:solidFill>
              <a:srgbClr val="D6DBD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3636499"/>
            <a:ext cx="2272284" cy="1209821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3362179"/>
            <a:ext cx="2272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273.74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68680" y="4937760"/>
            <a:ext cx="23637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3442716" y="4575752"/>
            <a:ext cx="2272284" cy="270568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42716" y="4301432"/>
            <a:ext cx="2272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61.22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396996" y="4937760"/>
            <a:ext cx="23637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Wasm Scalar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434840" y="26334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ms/frame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00800" y="2926080"/>
            <a:ext cx="48463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8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Wasm giảm chi phí suy luận kiểu và deoptimization của JIT.</a:t>
            </a:r>
            <a:endParaRPr lang="en-US" sz="1380" dirty="0"/>
          </a:p>
          <a:p>
            <a:r>
              <a:rPr lang="en-US" sz="138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 lý bộ nhớ thủ công và tái sử dụng buffer làm thời gian thực thi ổn định hơn.</a:t>
            </a:r>
            <a:endParaRPr lang="en-US" sz="1380" dirty="0"/>
          </a:p>
          <a:p>
            <a:r>
              <a:rPr lang="en-US" sz="138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 có P99 cao do memory churn và Garbage Collection trên frame 4K.</a:t>
            </a:r>
            <a:endParaRPr lang="en-US" sz="13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TẬP 2 | WEBASSEMBLY BENCHMARK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326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quả: SIMD và Multi-threaded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6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7620">
            <a:solidFill>
              <a:srgbClr val="EAEC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4389120"/>
            <a:ext cx="5943600" cy="0"/>
          </a:xfrm>
          <a:prstGeom prst="line">
            <a:avLst/>
          </a:prstGeom>
          <a:noFill/>
          <a:ln w="12700">
            <a:solidFill>
              <a:srgbClr val="D6DB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429835"/>
            <a:ext cx="1810512" cy="1959285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55515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61.22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" y="448056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Wasm Scalar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2889504" y="3629985"/>
            <a:ext cx="1810512" cy="759135"/>
          </a:xfrm>
          <a:prstGeom prst="rect">
            <a:avLst/>
          </a:prstGeom>
          <a:solidFill>
            <a:srgbClr val="1E9D68"/>
          </a:solidFill>
          <a:ln w="12700">
            <a:solidFill>
              <a:srgbClr val="1E9D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89504" y="3355665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23.72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843784" y="448056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SIMD</a:t>
            </a:r>
            <a:endParaRPr lang="en-US" sz="860" dirty="0"/>
          </a:p>
        </p:txBody>
      </p:sp>
      <p:sp>
        <p:nvSpPr>
          <p:cNvPr id="14" name="Shape 12"/>
          <p:cNvSpPr/>
          <p:nvPr/>
        </p:nvSpPr>
        <p:spPr>
          <a:xfrm>
            <a:off x="4956048" y="3308985"/>
            <a:ext cx="1810512" cy="1080135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3034665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33.75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10328" y="4480560"/>
            <a:ext cx="19019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Multi-threaded</a:t>
            </a:r>
            <a:endParaRPr lang="en-US" sz="860" dirty="0"/>
          </a:p>
        </p:txBody>
      </p:sp>
      <p:sp>
        <p:nvSpPr>
          <p:cNvPr id="17" name="Text 15"/>
          <p:cNvSpPr/>
          <p:nvPr/>
        </p:nvSpPr>
        <p:spPr>
          <a:xfrm>
            <a:off x="5486400" y="12618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ms/frame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315200" y="1508760"/>
            <a:ext cx="187452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79792" y="164592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SIMD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7479792" y="183794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E9D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23.72 ms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7479792" y="228600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2.58x vs Scalar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464040" y="1508760"/>
            <a:ext cx="187452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28632" y="164592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9628632" y="183794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33.75 ms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628632" y="228600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tuyến tính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132320" y="3063240"/>
            <a:ext cx="434340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35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SIMD là tầng tối ưu hiệu quả nhất cho workload pixel lặp lại.</a:t>
            </a:r>
            <a:endParaRPr lang="en-US" sz="1350" dirty="0"/>
          </a:p>
          <a:p>
            <a:r>
              <a:rPr lang="en-US" sz="135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Multi-threaded vẫn nhanh hơn Scalar, nhưng overhead fork-join và giới hạn bộ nhớ làm speedup không tuyến tính.</a:t>
            </a:r>
            <a:endParaRPr lang="en-US" sz="1350" dirty="0"/>
          </a:p>
          <a:p>
            <a:r>
              <a:rPr lang="en-US" sz="135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ủng hộ nhận định: thêm luồng không tự động tốt hơn vector hóa nếu pipeline bị memory-bound.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TẬP 2 | WEBASSEMBLY BENCHMARK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326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quả: Hybrid SIMD + Multi-threaded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6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7620">
            <a:solidFill>
              <a:srgbClr val="EAEC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417320"/>
            <a:ext cx="205740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1832" y="155448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LATENCY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941832" y="174650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E9D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11.13 ms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41832" y="21945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dưới 16.67 ms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154680" y="1417320"/>
            <a:ext cx="205740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9272" y="155448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P99 LATENCY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3319272" y="174650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13.17 ms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319272" y="21945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 vẫn ổn định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532120" y="1417320"/>
            <a:ext cx="205740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96712" y="155448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SIGMA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5696712" y="174650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00A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1.29 ms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5696712" y="21945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jitter thấp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909560" y="1417320"/>
            <a:ext cx="2057400" cy="1078992"/>
          </a:xfrm>
          <a:prstGeom prst="roundRect">
            <a:avLst>
              <a:gd name="adj" fmla="val 5932"/>
            </a:avLst>
          </a:prstGeom>
          <a:solidFill>
            <a:srgbClr val="F4F6F7"/>
          </a:solidFill>
          <a:ln w="8890">
            <a:solidFill>
              <a:srgbClr val="E5E8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74152" y="155448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8074152" y="174650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27.9 FPS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8074152" y="21945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 + Canvas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914400" y="4709160"/>
            <a:ext cx="4480560" cy="0"/>
          </a:xfrm>
          <a:prstGeom prst="line">
            <a:avLst/>
          </a:prstGeom>
          <a:noFill/>
          <a:ln w="12700">
            <a:solidFill>
              <a:srgbClr val="D6DBD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3832685"/>
            <a:ext cx="1322832" cy="876475"/>
          </a:xfrm>
          <a:prstGeom prst="rect">
            <a:avLst/>
          </a:prstGeom>
          <a:solidFill>
            <a:srgbClr val="95A5A6"/>
          </a:solidFill>
          <a:ln w="12700">
            <a:solidFill>
              <a:srgbClr val="95A5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3558365"/>
            <a:ext cx="1322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16.67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68680" y="4800600"/>
            <a:ext cx="1414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FPS budget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2493264" y="4123967"/>
            <a:ext cx="1322832" cy="585193"/>
          </a:xfrm>
          <a:prstGeom prst="rect">
            <a:avLst/>
          </a:prstGeom>
          <a:solidFill>
            <a:srgbClr val="1E9D68"/>
          </a:solidFill>
          <a:ln w="12700">
            <a:solidFill>
              <a:srgbClr val="1E9D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93264" y="3849647"/>
            <a:ext cx="1322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11.13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447544" y="4800600"/>
            <a:ext cx="1414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mean</a:t>
            </a:r>
            <a:endParaRPr lang="en-US" sz="860" dirty="0"/>
          </a:p>
        </p:txBody>
      </p:sp>
      <p:sp>
        <p:nvSpPr>
          <p:cNvPr id="30" name="Shape 28"/>
          <p:cNvSpPr/>
          <p:nvPr/>
        </p:nvSpPr>
        <p:spPr>
          <a:xfrm>
            <a:off x="4072128" y="4016708"/>
            <a:ext cx="1322832" cy="692452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72128" y="3742388"/>
            <a:ext cx="1322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13.17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026408" y="4800600"/>
            <a:ext cx="1414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P99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4114800" y="277063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ms/frame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035040" y="3063240"/>
            <a:ext cx="51206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45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Lõi thuật toán đã đạt ngân sách tính toán 60 FPS.</a:t>
            </a:r>
            <a:endParaRPr lang="en-US" sz="1450" dirty="0"/>
          </a:p>
          <a:p>
            <a:r>
              <a:rPr lang="en-US" sz="145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đầu cuối chưa đạt 60 FPS vì copy-in/copy-out, tạo ImageData và vẽ Canvas.</a:t>
            </a:r>
            <a:endParaRPr lang="en-US" sz="1450" dirty="0"/>
          </a:p>
          <a:p>
            <a:r>
              <a:rPr lang="en-US" sz="1450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Bottleneck chuyển từ tính toán sang bộ nhớ và bridge JS-Wasm.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TẬP 2 | WEBASSEMBLY BENCHMARK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326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 và đóng góp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6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7620">
            <a:solidFill>
              <a:srgbClr val="EAEC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71600"/>
            <a:ext cx="333756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371600"/>
            <a:ext cx="82296" cy="150876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536192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Benchmark 4K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901952"/>
            <a:ext cx="299008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Xây dựng framework đo lường video 4K trên trình duyệt, có tách chỉ số latency lõi và FPS đầu cuối.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1371600"/>
            <a:ext cx="333756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4840" y="1371600"/>
            <a:ext cx="82296" cy="1508760"/>
          </a:xfrm>
          <a:prstGeom prst="rect">
            <a:avLst/>
          </a:prstGeom>
          <a:solidFill>
            <a:srgbClr val="1E9D68"/>
          </a:solidFill>
          <a:ln w="12700">
            <a:solidFill>
              <a:srgbClr val="1E9D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536192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Bằng chứng định lượng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63440" y="1901952"/>
            <a:ext cx="299008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Wasm Scalar nhanh hơn JS 4.47x; Hybrid đưa core latency xuống 11.13 ms/frame.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1371600"/>
            <a:ext cx="333756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38160" y="1371600"/>
            <a:ext cx="82296" cy="150876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66760" y="1536192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P99/Jitter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66760" y="1901952"/>
            <a:ext cx="299008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Chứng minh mean latency/FPS chưa đủ; P99 và sigma phản ánh chất lượng thời gian thực.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606040" y="34290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06040" y="3429000"/>
            <a:ext cx="82296" cy="1325880"/>
          </a:xfrm>
          <a:prstGeom prst="rect">
            <a:avLst/>
          </a:prstGeom>
          <a:solidFill>
            <a:srgbClr val="00A6D6"/>
          </a:solidFill>
          <a:ln w="12700">
            <a:solidFill>
              <a:srgbClr val="00A6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34640" y="3593592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SIMD then chốt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834640" y="3959352"/>
            <a:ext cx="299008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hóa pixel mang lại lợi ích rõ hơn đa luồng đơn lẻ trong workload này.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55080" y="34290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55080" y="3429000"/>
            <a:ext cx="82296" cy="13258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3593592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Bottleneck mới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83680" y="3959352"/>
            <a:ext cx="299008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lõi đã nhanh, giới hạn dịch sang memory bandwidth và JS-Wasm bridge.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0B5C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TẬP 2 | WEBASSEMBLY BENCHMARK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502920" y="530352"/>
            <a:ext cx="9326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 và hướng phát triển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10160">
            <a:solidFill>
              <a:srgbClr val="D6DB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647395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7620">
            <a:solidFill>
              <a:srgbClr val="EAEC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32588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325880"/>
            <a:ext cx="82296" cy="109728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490472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1856232"/>
            <a:ext cx="4773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Mới đánh giá trên một cấu hình phần cứng/trình duyệt; chưa đo năng lượng, nhiệt độ và ảnh hưởng của tác vụ web song song.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2697480"/>
            <a:ext cx="51206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2697480"/>
            <a:ext cx="82296" cy="10972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862072"/>
            <a:ext cx="4773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Bottleneck còn lại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3227832"/>
            <a:ext cx="47731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bị giới hạn bởi copy-in/copy-out, tạo ImageData, Canvas rendering và memory churn.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09360" y="1325880"/>
            <a:ext cx="5074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325880"/>
            <a:ext cx="82296" cy="109728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1490472"/>
            <a:ext cx="4727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 án tốt nghiệp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37960" y="1856232"/>
            <a:ext cx="4727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triển ứng dụng phát hiện chuyển động video/camera thời gian thực trên Web.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2697480"/>
            <a:ext cx="50749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09360" y="2697480"/>
            <a:ext cx="82296" cy="1097280"/>
          </a:xfrm>
          <a:prstGeom prst="rect">
            <a:avLst/>
          </a:prstGeom>
          <a:solidFill>
            <a:srgbClr val="1E9D68"/>
          </a:solidFill>
          <a:ln w="12700">
            <a:solidFill>
              <a:srgbClr val="1E9D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2862072"/>
            <a:ext cx="4727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Hướng kỹ thuật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7960" y="3227832"/>
            <a:ext cx="4727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6D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hợp Wasm, SIMD, đa luồng với WebCodecs, WebGPU và thiết kế zero-copy/shared-memory pipeline.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4400" y="4983480"/>
            <a:ext cx="10241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7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điệp chốt: Wasm giúp lõi xử lý 4K đạt ngân sách 60 FPS, nhưng ứng dụng thực tế cần tối ưu toàn pipeline.</a:t>
            </a:r>
            <a:endParaRPr lang="en-US" sz="1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02920" y="274320"/>
            <a:ext cx="65836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indent="0" marL="0">
              <a:buNone/>
            </a:pPr>
            <a:r>
              <a:rPr lang="vi-VN" sz="750" b="1" dirty="0">
                <a:solidFill>
                  <a:srgbClr val="0B5CAD"/>
                </a:solidFill>
                <a:latin typeface="Arial"/>
                <a:ea typeface="Arial"/>
                <a:cs typeface="Arial"/>
              </a:rPr>
              <a:t>THỰC TẬP 2 | WEBASSEMBLY BENCHMARK</a:t>
            </a:r>
            <a:endParaRPr lang="vi-VN" sz="750" dirty="0"/>
          </a:p>
        </p:txBody>
      </p:sp>
      <p:sp>
        <p:nvSpPr>
          <p:cNvPr id="3" name="Title"/>
          <p:cNvSpPr/>
          <p:nvPr/>
        </p:nvSpPr>
        <p:spPr>
          <a:xfrm>
            <a:off x="502920" y="530352"/>
            <a:ext cx="9326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indent="0" marL="0">
              <a:buNone/>
            </a:pPr>
            <a:r>
              <a:rPr lang="vi-VN" sz="2400" b="1" dirty="0">
                <a:solidFill>
                  <a:srgbClr val="17202A"/>
                </a:solidFill>
                <a:latin typeface="Arial"/>
                <a:ea typeface="Arial"/>
                <a:cs typeface="Arial"/>
              </a:rPr>
              <a:t>Tài liệu tham khảo</a:t>
            </a:r>
            <a:endParaRPr lang="vi-VN" sz="2400" dirty="0"/>
          </a:p>
        </p:txBody>
      </p:sp>
      <p:sp>
        <p:nvSpPr>
          <p:cNvPr id="4" name="Line 4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9525">
            <a:solidFill>
              <a:srgbClr val="D6DBDF"/>
            </a:solidFill>
          </a:ln>
        </p:spPr>
      </p:sp>
      <p:sp>
        <p:nvSpPr>
          <p:cNvPr id="5" name="Line 5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9525">
            <a:solidFill>
              <a:srgbClr val="EAECEE"/>
            </a:solidFill>
          </a:ln>
        </p:spPr>
      </p:sp>
      <p:sp>
        <p:nvSpPr>
          <p:cNvPr id="6" name="Slide Number"/>
          <p:cNvSpPr/>
          <p:nvPr/>
        </p:nvSpPr>
        <p:spPr>
          <a:xfrm>
            <a:off x="11109960" y="647395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indent="0" marL="0" algn="r">
              <a:buNone/>
            </a:pPr>
            <a:r>
              <a:rPr lang="vi-VN" sz="800" b="1" dirty="0">
                <a:solidFill>
                  <a:srgbClr val="5D6D7E"/>
                </a:solidFill>
                <a:latin typeface="Arial"/>
                <a:ea typeface="Arial"/>
                <a:cs typeface="Arial"/>
              </a:rPr>
              <a:t>18</a:t>
            </a:r>
            <a:endParaRPr lang="vi-VN" sz="800" dirty="0"/>
          </a:p>
        </p:txBody>
      </p:sp>
      <p:sp>
        <p:nvSpPr>
          <p:cNvPr id="7" name="Bullets 7"/>
          <p:cNvSpPr/>
          <p:nvPr/>
        </p:nvSpPr>
        <p:spPr>
          <a:xfrm>
            <a:off x="822960" y="1508760"/>
            <a:ext cx="10332720" cy="3931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>
            <a:normAutofit/>
          </a:bodyPr>
          <a:lstStyle/>
          <a:p>
            <a:pPr marL="285750" indent="-171450">
              <a:buChar char="•"/>
              <a:buFont typeface="Arial"/>
            </a:pPr>
            <a:r>
              <a:rPr lang="vi-VN" sz="1250" dirty="0">
                <a:solidFill>
                  <a:srgbClr val="17202A"/>
                </a:solidFill>
                <a:latin typeface="Arial"/>
                <a:ea typeface="Arial"/>
                <a:cs typeface="Arial"/>
              </a:rPr>
              <a:t>Haas et al. (2017), Bringing the Web up to Speed with WebAssembly.</a:t>
            </a:r>
            <a:endParaRPr lang="vi-VN" sz="1250" dirty="0"/>
          </a:p>
          <a:p>
            <a:pPr marL="285750" indent="-171450">
              <a:buChar char="•"/>
              <a:buFont typeface="Arial"/>
            </a:pPr>
            <a:r>
              <a:rPr lang="vi-VN" sz="1250" dirty="0">
                <a:solidFill>
                  <a:srgbClr val="17202A"/>
                </a:solidFill>
                <a:latin typeface="Arial"/>
                <a:ea typeface="Arial"/>
                <a:cs typeface="Arial"/>
              </a:rPr>
              <a:t>Jangda et al. (2019), Not So Fast: Analyzing the Performance of WebAssembly vs Native Code.</a:t>
            </a:r>
            <a:endParaRPr lang="vi-VN" sz="1250" dirty="0"/>
          </a:p>
          <a:p>
            <a:pPr marL="285750" indent="-171450">
              <a:buChar char="•"/>
              <a:buFont typeface="Arial"/>
            </a:pPr>
            <a:r>
              <a:rPr lang="vi-VN" sz="1250" dirty="0">
                <a:solidFill>
                  <a:srgbClr val="17202A"/>
                </a:solidFill>
                <a:latin typeface="Arial"/>
                <a:ea typeface="Arial"/>
                <a:cs typeface="Arial"/>
              </a:rPr>
              <a:t>Taheri et al. (2018), OpenCV.js: Computer Vision Processing for the Web.</a:t>
            </a:r>
            <a:endParaRPr lang="vi-VN" sz="1250" dirty="0"/>
          </a:p>
          <a:p>
            <a:pPr marL="285750" indent="-171450">
              <a:buChar char="•"/>
              <a:buFont typeface="Arial"/>
            </a:pPr>
            <a:r>
              <a:rPr lang="vi-VN" sz="1250" dirty="0">
                <a:solidFill>
                  <a:srgbClr val="17202A"/>
                </a:solidFill>
                <a:latin typeface="Arial"/>
                <a:ea typeface="Arial"/>
                <a:cs typeface="Arial"/>
              </a:rPr>
              <a:t>Yan et al. (2021), Understanding the Performance of WebAssembly Applications.</a:t>
            </a:r>
            <a:endParaRPr lang="vi-VN" sz="1250" dirty="0"/>
          </a:p>
          <a:p>
            <a:pPr marL="285750" indent="-171450">
              <a:buChar char="•"/>
              <a:buFont typeface="Arial"/>
            </a:pPr>
            <a:r>
              <a:rPr lang="vi-VN" sz="1250" dirty="0">
                <a:solidFill>
                  <a:srgbClr val="17202A"/>
                </a:solidFill>
                <a:latin typeface="Arial"/>
                <a:ea typeface="Arial"/>
                <a:cs typeface="Arial"/>
              </a:rPr>
              <a:t>Oishi et al. (2021), Performance Evaluation of Image Convolution with WebAssembly.</a:t>
            </a:r>
            <a:endParaRPr lang="vi-VN" sz="1250" dirty="0"/>
          </a:p>
          <a:p>
            <a:pPr marL="285750" indent="-171450">
              <a:buChar char="•"/>
              <a:buFont typeface="Arial"/>
            </a:pPr>
            <a:r>
              <a:rPr lang="vi-VN" sz="1250" dirty="0">
                <a:solidFill>
                  <a:srgbClr val="17202A"/>
                </a:solidFill>
                <a:latin typeface="Arial"/>
                <a:ea typeface="Arial"/>
                <a:cs typeface="Arial"/>
              </a:rPr>
              <a:t>Các tài liệu W3C/MDN về WebAssembly, SIMD, SharedArrayBuffer, Web Workers và Performance API.</a:t>
            </a:r>
            <a:endParaRPr lang="vi-VN" sz="1250" dirty="0"/>
          </a:p>
        </p:txBody>
      </p:sp>
      <p:sp>
        <p:nvSpPr>
          <p:cNvPr id="8" name="Note"/>
          <p:cNvSpPr/>
          <p:nvPr/>
        </p:nvSpPr>
        <p:spPr>
          <a:xfrm>
            <a:off x="822960" y="5394960"/>
            <a:ext cx="101498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indent="0" marL="0" algn="c">
              <a:buNone/>
            </a:pPr>
            <a:r>
              <a:rPr lang="vi-VN" sz="1200" dirty="0">
                <a:solidFill>
                  <a:srgbClr val="5D6D7E"/>
                </a:solidFill>
                <a:latin typeface="Arial"/>
                <a:ea typeface="Arial"/>
                <a:cs typeface="Arial"/>
              </a:rPr>
              <a:t>Danh sách đầy đủ được trình bày trong phần Tài liệu tham khảo của báo cáo.</a:t>
            </a:r>
            <a:endParaRPr lang="vi-VN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/>
          <p:nvPr/>
        </p:nvSpPr>
        <p:spPr>
          <a:xfrm>
            <a:off x="502920" y="274320"/>
            <a:ext cx="65836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indent="0" marL="0">
              <a:buNone/>
            </a:pPr>
            <a:r>
              <a:rPr lang="vi-VN" sz="750" b="1" dirty="0">
                <a:solidFill>
                  <a:srgbClr val="0B5CAD"/>
                </a:solidFill>
                <a:latin typeface="Arial"/>
                <a:ea typeface="Arial"/>
                <a:cs typeface="Arial"/>
              </a:rPr>
              <a:t>THỰC TẬP 2 | WEBASSEMBLY BENCHMARK</a:t>
            </a:r>
            <a:endParaRPr lang="vi-VN" sz="750" dirty="0"/>
          </a:p>
        </p:txBody>
      </p:sp>
      <p:sp>
        <p:nvSpPr>
          <p:cNvPr id="3" name="Title"/>
          <p:cNvSpPr/>
          <p:nvPr/>
        </p:nvSpPr>
        <p:spPr>
          <a:xfrm>
            <a:off x="502920" y="530352"/>
            <a:ext cx="932688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indent="0" marL="0">
              <a:buNone/>
            </a:pPr>
            <a:r>
              <a:rPr lang="vi-VN" sz="2400" b="1" dirty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Lời cảm ơn</a:t>
            </a:r>
            <a:endParaRPr lang="vi-VN" sz="2400" dirty="0"/>
          </a:p>
        </p:txBody>
      </p:sp>
      <p:sp>
        <p:nvSpPr>
          <p:cNvPr id="4" name="Line 4"/>
          <p:cNvSpPr/>
          <p:nvPr/>
        </p:nvSpPr>
        <p:spPr>
          <a:xfrm>
            <a:off x="502920" y="1115568"/>
            <a:ext cx="11155680" cy="0"/>
          </a:xfrm>
          <a:prstGeom prst="line">
            <a:avLst/>
          </a:prstGeom>
          <a:noFill/>
          <a:ln w="9525">
            <a:solidFill>
              <a:srgbClr val="D6DBDF"/>
            </a:solidFill>
          </a:ln>
        </p:spPr>
      </p:sp>
      <p:sp>
        <p:nvSpPr>
          <p:cNvPr id="5" name="Line 5"/>
          <p:cNvSpPr/>
          <p:nvPr/>
        </p:nvSpPr>
        <p:spPr>
          <a:xfrm>
            <a:off x="502920" y="6355080"/>
            <a:ext cx="11155680" cy="0"/>
          </a:xfrm>
          <a:prstGeom prst="line">
            <a:avLst/>
          </a:prstGeom>
          <a:noFill/>
          <a:ln w="9525">
            <a:solidFill>
              <a:srgbClr val="EAECEE"/>
            </a:solidFill>
          </a:ln>
        </p:spPr>
      </p:sp>
      <p:sp>
        <p:nvSpPr>
          <p:cNvPr id="6" name="Slide Number"/>
          <p:cNvSpPr/>
          <p:nvPr/>
        </p:nvSpPr>
        <p:spPr>
          <a:xfrm>
            <a:off x="11109960" y="647395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indent="0" marL="0" algn="r">
              <a:buNone/>
            </a:pPr>
            <a:r>
              <a:rPr lang="vi-VN" sz="800" b="1" dirty="0">
                <a:solidFill>
                  <a:srgbClr val="5D6D7E"/>
                </a:solidFill>
                <a:latin typeface="Arial"/>
                <a:ea typeface="Arial"/>
                <a:cs typeface="Arial"/>
              </a:rPr>
              <a:t>19</a:t>
            </a:r>
            <a:endParaRPr lang="vi-VN" sz="800" dirty="0"/>
          </a:p>
        </p:txBody>
      </p:sp>
      <p:sp>
        <p:nvSpPr>
          <p:cNvPr id="7" name="Thanks"/>
          <p:cNvSpPr/>
          <p:nvPr/>
        </p:nvSpPr>
        <p:spPr>
          <a:xfrm>
            <a:off x="1005840" y="2240280"/>
            <a:ext cx="1014984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indent="0" marL="0" algn="c">
              <a:buNone/>
            </a:pPr>
            <a:r>
              <a:rPr lang="vi-VN" sz="3300" b="1" dirty="0">
                <a:solidFill>
                  <a:srgbClr val="17202A"/>
                </a:solidFill>
                <a:latin typeface="Arial"/>
                <a:ea typeface="Arial"/>
                <a:cs typeface="Arial"/>
              </a:rPr>
              <a:t>Cảm ơn thầy cô đã lắng nghe</a:t>
            </a:r>
            <a:endParaRPr lang="vi-VN" sz="3300" dirty="0"/>
          </a:p>
          <a:p>
            <a:pPr indent="0" marL="0" algn="c">
              <a:buNone/>
            </a:pPr>
            <a:r>
              <a:rPr lang="vi-VN" sz="3300" b="1" dirty="0">
                <a:solidFill>
                  <a:srgbClr val="17202A"/>
                </a:solidFill>
                <a:latin typeface="Arial"/>
                <a:ea typeface="Arial"/>
                <a:cs typeface="Arial"/>
              </a:rPr>
              <a:t>phần trình bày</a:t>
            </a:r>
            <a:endParaRPr lang="vi-VN" sz="3300" dirty="0"/>
          </a:p>
        </p:txBody>
      </p:sp>
      <p:sp>
        <p:nvSpPr>
          <p:cNvPr id="8" name="FooterThanks"/>
          <p:cNvSpPr/>
          <p:nvPr/>
        </p:nvSpPr>
        <p:spPr>
          <a:xfrm>
            <a:off x="1920240" y="379476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indent="0" marL="0" algn="c">
              <a:buNone/>
            </a:pPr>
            <a:r>
              <a:rPr lang="vi-VN" sz="1550" dirty="0">
                <a:solidFill>
                  <a:srgbClr val="0B5CAD"/>
                </a:solidFill>
                <a:latin typeface="Arial"/>
                <a:ea typeface="Arial"/>
                <a:cs typeface="Arial"/>
              </a:rPr>
              <a:t>Em xin trân trọng cảm ơn.</a:t>
            </a:r>
            <a:endParaRPr lang="vi-VN" sz="1550" dirty="0"/>
          </a:p>
        </p:txBody>
      </p:sp>
      <p:sp>
        <p:nvSpPr>
          <p:cNvPr id="9" name="Rect 9"/>
          <p:cNvSpPr/>
          <p:nvPr/>
        </p:nvSpPr>
        <p:spPr>
          <a:xfrm>
            <a:off x="4389120" y="4617720"/>
            <a:ext cx="3429000" cy="54864"/>
          </a:xfrm>
          <a:prstGeom prst="rect">
            <a:avLst/>
          </a:prstGeom>
          <a:solidFill>
            <a:srgbClr val="0B5CAD"/>
          </a:solidFill>
          <a:ln>
            <a:solidFill>
              <a:srgbClr val="0B5CAD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HCMUT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TT2 - JavaScript va WebAssembly</dc:title>
  <dc:subject>Phan tich hieu nang JavaScript va WebAssembly trong xu ly video thoi gian thuc</dc:subject>
  <dc:creator>Vo Hoang Quoc</dc:creator>
  <cp:lastModifiedBy>Vo Hoang Quoc</cp:lastModifiedBy>
  <cp:revision>1</cp:revision>
  <dcterms:created xsi:type="dcterms:W3CDTF">2026-05-21T14:11:52Z</dcterms:created>
  <dcterms:modified xsi:type="dcterms:W3CDTF">2026-05-21T14:11:52Z</dcterms:modified>
</cp:coreProperties>
</file>